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id="2147483656" r:id="rId2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27" d="100"/>
          <a:sy n="127" d="100"/>
        </p:scale>
        <p:origin x="99" y="189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7BBBF9-3244-254E-FC71-B1B989ACED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DC1508-3A23-C95F-B011-B38233B56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16328C-8ABC-F2EC-942E-A1082453F0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DA9969-234D-D312-71FF-D00EA4D707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563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0406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124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7F31A4-3258-C221-153A-6D94A36950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DCE222-137A-922F-ACE1-AC4CA38A0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A689BC-8A89-29B5-34DE-9AD7C40179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3BAF23-3839-85B0-9B58-9E31F0CC8B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91FC03-5CDB-6A58-31EB-5EAFAF2AFF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495C55-8CA8-CE15-ABD4-F43B05951B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DCA961-2CFF-BC2F-0B75-CD1FB7B3F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11DA57-09C3-3D43-E60A-1ABC20A0DF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96CAB4-F879-817A-0162-C127209FFC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seemoo.tu-darmstadt.de/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media2.svg"/><Relationship Id="rId5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media3.sv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seemoo.tu-darmstadt.de/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www.seemoo.tu-darmstadt.de/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www.seemoo.tu-darmstadt.de/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elfolie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800753" name="Rechteck 6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ED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7281917" name="Rechteck 28"/>
          <p:cNvSpPr/>
          <p:nvPr/>
        </p:nvSpPr>
        <p:spPr bwMode="auto">
          <a:xfrm>
            <a:off x="719999" y="0"/>
            <a:ext cx="3220630" cy="145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807333552" name="Rechteck 96"/>
          <p:cNvSpPr/>
          <p:nvPr/>
        </p:nvSpPr>
        <p:spPr bwMode="auto">
          <a:xfrm>
            <a:off x="0" y="5802086"/>
            <a:ext cx="12192000" cy="1055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781286485" name="Titel 1"/>
          <p:cNvSpPr>
            <a:spLocks noGrp="1"/>
          </p:cNvSpPr>
          <p:nvPr>
            <p:ph type="ctrTitle"/>
          </p:nvPr>
        </p:nvSpPr>
        <p:spPr bwMode="auto">
          <a:xfrm>
            <a:off x="720000" y="2043994"/>
            <a:ext cx="10753200" cy="1415144"/>
          </a:xfrm>
        </p:spPr>
        <p:txBody>
          <a:bodyPr lIns="0" tIns="0" rIns="0" bIns="90000" anchor="b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1795188972" name="Untertitel 2"/>
          <p:cNvSpPr>
            <a:spLocks noGrp="1"/>
          </p:cNvSpPr>
          <p:nvPr>
            <p:ph type="subTitle" idx="1"/>
          </p:nvPr>
        </p:nvSpPr>
        <p:spPr bwMode="auto">
          <a:xfrm>
            <a:off x="720000" y="3491880"/>
            <a:ext cx="10753200" cy="1655762"/>
          </a:xfrm>
          <a:prstGeom prst="rect">
            <a:avLst/>
          </a:prstGeom>
        </p:spPr>
        <p:txBody>
          <a:bodyPr lIns="0" tIns="90000" rIns="0" bIns="0" anchor="t"/>
          <a:lstStyle>
            <a:lvl1pPr marL="0" indent="0" algn="l">
              <a:buNone/>
              <a:defRPr sz="2400">
                <a:solidFill>
                  <a:schemeClr val="bg1"/>
                </a:solidFill>
                <a:latin typeface="Inter"/>
                <a:ea typeface="Inter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 lang="de-DE"/>
          </a:p>
        </p:txBody>
      </p:sp>
      <p:grpSp>
        <p:nvGrpSpPr>
          <p:cNvPr id="1061353245" name="Group 3"/>
          <p:cNvGrpSpPr/>
          <p:nvPr/>
        </p:nvGrpSpPr>
        <p:grpSpPr bwMode="auto">
          <a:xfrm>
            <a:off x="740141" y="201770"/>
            <a:ext cx="3128105" cy="1181551"/>
            <a:chOff x="7164388" y="1620974"/>
            <a:chExt cx="1871662" cy="706966"/>
          </a:xfrm>
        </p:grpSpPr>
        <p:sp>
          <p:nvSpPr>
            <p:cNvPr id="5" name="Rectangle 4"/>
            <p:cNvSpPr/>
            <p:nvPr userDrawn="1"/>
          </p:nvSpPr>
          <p:spPr bwMode="auto">
            <a:xfrm>
              <a:off x="7164388" y="1620974"/>
              <a:ext cx="1871662" cy="7069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8" name="Picture 15" descr="Logo SeeMoo_RGB.pdf">
              <a:hlinkClick r:id="rId2"/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 bwMode="auto">
            <a:xfrm>
              <a:off x="7321550" y="1763855"/>
              <a:ext cx="1567882" cy="4212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93168808" name="Grafik 5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002806" y="6028718"/>
            <a:ext cx="1626858" cy="626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84347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18799" y="1222513"/>
            <a:ext cx="10753200" cy="5030239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80617459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106003244" name="Rechteck 30"/>
          <p:cNvSpPr/>
          <p:nvPr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rgbClr val="ED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882083589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370A5AA2-CDC5-45B7-A826-E4BC9343C573}" type="slidenum">
              <a:rPr lang="de-DE"/>
              <a:t>‹Nr.›</a:t>
            </a:fld>
            <a:endParaRPr lang="de-DE"/>
          </a:p>
        </p:txBody>
      </p:sp>
      <p:sp>
        <p:nvSpPr>
          <p:cNvPr id="1221798683" name="Footer Placeholder 8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pic>
        <p:nvPicPr>
          <p:cNvPr id="166816562" name="Graphic 6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667193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18799" y="1222513"/>
            <a:ext cx="5194984" cy="5030239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211834987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666836855" name="Rechteck 30"/>
          <p:cNvSpPr/>
          <p:nvPr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rgbClr val="ED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376336925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370A5AA2-CDC5-45B7-A826-E4BC9343C573}" type="slidenum">
              <a:rPr lang="de-DE"/>
              <a:t>‹Nr.›</a:t>
            </a:fld>
            <a:endParaRPr lang="de-DE"/>
          </a:p>
        </p:txBody>
      </p:sp>
      <p:sp>
        <p:nvSpPr>
          <p:cNvPr id="1931030146" name="Footer Placeholder 8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89564986" name="Content Placeholder 7"/>
          <p:cNvSpPr>
            <a:spLocks noGrp="1"/>
          </p:cNvSpPr>
          <p:nvPr>
            <p:ph sz="quarter" idx="16"/>
          </p:nvPr>
        </p:nvSpPr>
        <p:spPr bwMode="auto">
          <a:xfrm>
            <a:off x="6278216" y="1222512"/>
            <a:ext cx="5194984" cy="5030239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pic>
        <p:nvPicPr>
          <p:cNvPr id="1307725768" name="Graphic 2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399576" name="Rechteck 30"/>
          <p:cNvSpPr/>
          <p:nvPr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rgbClr val="ED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51660612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  <a:noFill/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370A5AA2-CDC5-45B7-A826-E4BC9343C573}" type="slidenum">
              <a:rPr lang="de-DE"/>
              <a:t>‹Nr.›</a:t>
            </a:fld>
            <a:endParaRPr lang="de-DE"/>
          </a:p>
        </p:txBody>
      </p:sp>
      <p:sp>
        <p:nvSpPr>
          <p:cNvPr id="1778259977" name="Content Placeholder 2"/>
          <p:cNvSpPr>
            <a:spLocks noGrp="1"/>
          </p:cNvSpPr>
          <p:nvPr>
            <p:ph sz="quarter" idx="14"/>
          </p:nvPr>
        </p:nvSpPr>
        <p:spPr bwMode="auto">
          <a:xfrm>
            <a:off x="718799" y="365126"/>
            <a:ext cx="10754400" cy="5887628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953806697" name="Footer Placeholder 4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pic>
        <p:nvPicPr>
          <p:cNvPr id="1135210719" name="Graphic 1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365924" name="Picture Placeholder 8"/>
          <p:cNvSpPr>
            <a:spLocks noGrp="1"/>
          </p:cNvSpPr>
          <p:nvPr>
            <p:ph type="pic" sz="quarter" idx="15"/>
          </p:nvPr>
        </p:nvSpPr>
        <p:spPr bwMode="auto">
          <a:xfrm>
            <a:off x="0" y="0"/>
            <a:ext cx="12192000" cy="6535081"/>
          </a:xfrm>
        </p:spPr>
        <p:txBody>
          <a:bodyPr/>
          <a:lstStyle/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317077458" name="Rechteck 30"/>
          <p:cNvSpPr/>
          <p:nvPr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rgbClr val="ED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643491142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  <a:noFill/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370A5AA2-CDC5-45B7-A826-E4BC9343C573}" type="slidenum">
              <a:rPr lang="de-DE"/>
              <a:t>‹Nr.›</a:t>
            </a:fld>
            <a:endParaRPr lang="de-DE"/>
          </a:p>
        </p:txBody>
      </p:sp>
      <p:sp>
        <p:nvSpPr>
          <p:cNvPr id="676414389" name="Footer Placeholder 4"/>
          <p:cNvSpPr>
            <a:spLocks noGrp="1"/>
          </p:cNvSpPr>
          <p:nvPr>
            <p:ph type="ftr" sz="quarter" idx="16"/>
          </p:nvPr>
        </p:nvSpPr>
        <p:spPr bwMode="auto">
          <a:xfrm>
            <a:off x="1888749" y="6541200"/>
            <a:ext cx="8890763" cy="316800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pic>
        <p:nvPicPr>
          <p:cNvPr id="1663040398" name="Graphic 1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Kontakt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17319" name="Rechteck 6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ED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00761671" name="Rechteck 28"/>
          <p:cNvSpPr/>
          <p:nvPr/>
        </p:nvSpPr>
        <p:spPr bwMode="auto">
          <a:xfrm>
            <a:off x="719999" y="0"/>
            <a:ext cx="3220630" cy="145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589076630" name="Rechteck 96"/>
          <p:cNvSpPr/>
          <p:nvPr/>
        </p:nvSpPr>
        <p:spPr bwMode="auto">
          <a:xfrm>
            <a:off x="0" y="5802086"/>
            <a:ext cx="12192000" cy="1055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033127813" name="Content Placeholder 2"/>
          <p:cNvSpPr>
            <a:spLocks noGrp="1"/>
          </p:cNvSpPr>
          <p:nvPr>
            <p:ph sz="quarter" idx="15"/>
          </p:nvPr>
        </p:nvSpPr>
        <p:spPr bwMode="auto">
          <a:xfrm>
            <a:off x="4827181" y="365126"/>
            <a:ext cx="6646019" cy="5221187"/>
          </a:xfrm>
        </p:spPr>
        <p:txBody>
          <a:bodyPr anchor="b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grpSp>
        <p:nvGrpSpPr>
          <p:cNvPr id="1854231268" name="Group 1"/>
          <p:cNvGrpSpPr/>
          <p:nvPr/>
        </p:nvGrpSpPr>
        <p:grpSpPr bwMode="auto">
          <a:xfrm>
            <a:off x="740141" y="201770"/>
            <a:ext cx="3128105" cy="1181551"/>
            <a:chOff x="7164388" y="1620974"/>
            <a:chExt cx="1871662" cy="706966"/>
          </a:xfrm>
        </p:grpSpPr>
        <p:sp>
          <p:nvSpPr>
            <p:cNvPr id="3" name="Rectangle 2"/>
            <p:cNvSpPr/>
            <p:nvPr userDrawn="1"/>
          </p:nvSpPr>
          <p:spPr bwMode="auto">
            <a:xfrm>
              <a:off x="7164388" y="1620974"/>
              <a:ext cx="1871662" cy="7069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4" name="Picture 15" descr="Logo SeeMoo_RGB.pdf">
              <a:hlinkClick r:id="rId2"/>
            </p:cNvPr>
            <p:cNvPicPr>
              <a:picLocks noChangeAspect="1"/>
            </p:cNvPicPr>
            <p:nvPr userDrawn="1"/>
          </p:nvPicPr>
          <p:blipFill rotWithShape="1">
            <a:blip r:embed="rId3"/>
            <a:stretch/>
          </p:blipFill>
          <p:spPr bwMode="auto">
            <a:xfrm>
              <a:off x="7321550" y="1763855"/>
              <a:ext cx="1567882" cy="4212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3619611" name="Grafik 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2806" y="6028718"/>
            <a:ext cx="1626858" cy="626400"/>
          </a:xfrm>
          <a:prstGeom prst="rect">
            <a:avLst/>
          </a:prstGeom>
        </p:spPr>
      </p:pic>
      <p:sp>
        <p:nvSpPr>
          <p:cNvPr id="66433687" name="Rechteck 28"/>
          <p:cNvSpPr/>
          <p:nvPr/>
        </p:nvSpPr>
        <p:spPr bwMode="auto">
          <a:xfrm>
            <a:off x="717690" y="1649660"/>
            <a:ext cx="3220630" cy="3219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pic>
        <p:nvPicPr>
          <p:cNvPr id="1239773377" name="Picture 17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79340" y="1925754"/>
            <a:ext cx="2667330" cy="2667330"/>
          </a:xfrm>
          <a:prstGeom prst="rect">
            <a:avLst/>
          </a:prstGeom>
        </p:spPr>
      </p:pic>
      <p:sp>
        <p:nvSpPr>
          <p:cNvPr id="905748174" name="Rechteck 28"/>
          <p:cNvSpPr/>
          <p:nvPr/>
        </p:nvSpPr>
        <p:spPr bwMode="auto">
          <a:xfrm>
            <a:off x="717690" y="5060154"/>
            <a:ext cx="3220630" cy="562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529502426" name="Titel 1"/>
          <p:cNvSpPr txBox="1"/>
          <p:nvPr/>
        </p:nvSpPr>
        <p:spPr bwMode="auto">
          <a:xfrm>
            <a:off x="717690" y="5049305"/>
            <a:ext cx="3220630" cy="558471"/>
          </a:xfrm>
          <a:prstGeom prst="rect">
            <a:avLst/>
          </a:prstGeom>
        </p:spPr>
        <p:txBody>
          <a:bodyPr vert="horz" lIns="0" tIns="0" rIns="0" bIns="9000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800" b="0" i="0">
                <a:solidFill>
                  <a:schemeClr val="bg1"/>
                </a:solidFill>
                <a:latin typeface="Inter"/>
                <a:ea typeface="Inter"/>
                <a:cs typeface="Arial"/>
              </a:defRPr>
            </a:lvl1pPr>
          </a:lstStyle>
          <a:p>
            <a:pPr algn="ctr">
              <a:lnSpc>
                <a:spcPct val="150000"/>
              </a:lnSpc>
              <a:defRPr/>
            </a:pPr>
            <a:r>
              <a:rPr lang="en-GB" sz="1800" b="1">
                <a:solidFill>
                  <a:schemeClr val="tx1"/>
                </a:solidFill>
              </a:rPr>
              <a:t>https://</a:t>
            </a:r>
            <a:r>
              <a:rPr lang="en-GB" sz="1800" b="1">
                <a:solidFill>
                  <a:schemeClr val="tx1"/>
                </a:solidFill>
              </a:rPr>
              <a:t>www.seemoo.de</a:t>
            </a:r>
            <a:endParaRPr lang="en-GB" sz="1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elfolie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62727" name="Rechteck 6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887772805" name="Rechteck 28"/>
          <p:cNvSpPr/>
          <p:nvPr userDrawn="1"/>
        </p:nvSpPr>
        <p:spPr bwMode="auto">
          <a:xfrm>
            <a:off x="719999" y="0"/>
            <a:ext cx="3220630" cy="145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256649462" name="Rechteck 96"/>
          <p:cNvSpPr/>
          <p:nvPr userDrawn="1"/>
        </p:nvSpPr>
        <p:spPr bwMode="auto">
          <a:xfrm>
            <a:off x="0" y="5802086"/>
            <a:ext cx="12192000" cy="1055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643212164" name="Titel 1"/>
          <p:cNvSpPr>
            <a:spLocks noGrp="1"/>
          </p:cNvSpPr>
          <p:nvPr>
            <p:ph type="ctrTitle"/>
          </p:nvPr>
        </p:nvSpPr>
        <p:spPr bwMode="auto">
          <a:xfrm>
            <a:off x="720000" y="2043994"/>
            <a:ext cx="10753200" cy="1415144"/>
          </a:xfrm>
        </p:spPr>
        <p:txBody>
          <a:bodyPr lIns="0" tIns="0" rIns="0" bIns="90000" anchor="b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208379151" name="Untertitel 2"/>
          <p:cNvSpPr>
            <a:spLocks noGrp="1"/>
          </p:cNvSpPr>
          <p:nvPr>
            <p:ph type="subTitle" idx="1"/>
          </p:nvPr>
        </p:nvSpPr>
        <p:spPr bwMode="auto">
          <a:xfrm>
            <a:off x="720000" y="3491880"/>
            <a:ext cx="10753200" cy="1655762"/>
          </a:xfrm>
          <a:prstGeom prst="rect">
            <a:avLst/>
          </a:prstGeom>
        </p:spPr>
        <p:txBody>
          <a:bodyPr lIns="0" tIns="90000" rIns="0" bIns="0" anchor="t"/>
          <a:lstStyle>
            <a:lvl1pPr marL="0" indent="0" algn="l">
              <a:buNone/>
              <a:defRPr sz="2400">
                <a:solidFill>
                  <a:schemeClr val="bg1"/>
                </a:solidFill>
                <a:latin typeface="Inter"/>
                <a:ea typeface="Inter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 lang="de-DE"/>
          </a:p>
        </p:txBody>
      </p:sp>
      <p:grpSp>
        <p:nvGrpSpPr>
          <p:cNvPr id="1926473251" name="Group 8"/>
          <p:cNvGrpSpPr/>
          <p:nvPr userDrawn="1"/>
        </p:nvGrpSpPr>
        <p:grpSpPr bwMode="auto">
          <a:xfrm>
            <a:off x="740141" y="201770"/>
            <a:ext cx="3128105" cy="1181551"/>
            <a:chOff x="7164388" y="1620974"/>
            <a:chExt cx="1871662" cy="706966"/>
          </a:xfrm>
        </p:grpSpPr>
        <p:sp>
          <p:nvSpPr>
            <p:cNvPr id="10" name="Rectangle 9"/>
            <p:cNvSpPr/>
            <p:nvPr userDrawn="1"/>
          </p:nvSpPr>
          <p:spPr bwMode="auto">
            <a:xfrm>
              <a:off x="7164388" y="1620974"/>
              <a:ext cx="1871662" cy="7069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11" name="Picture 15" descr="Logo SeeMoo_RGB.pdf">
              <a:hlinkClick r:id="rId2"/>
            </p:cNvPr>
            <p:cNvPicPr>
              <a:picLocks noChangeAspect="1"/>
            </p:cNvPicPr>
            <p:nvPr userDrawn="1"/>
          </p:nvPicPr>
          <p:blipFill rotWithShape="1">
            <a:blip r:embed="rId3"/>
            <a:stretch/>
          </p:blipFill>
          <p:spPr bwMode="auto">
            <a:xfrm>
              <a:off x="7321550" y="1763855"/>
              <a:ext cx="1567882" cy="4212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91214923" name="Grafik 5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1002806" y="6028718"/>
            <a:ext cx="1626858" cy="626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371882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18799" y="1222513"/>
            <a:ext cx="10753200" cy="503023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173246679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883470893" name="Rechteck 30"/>
          <p:cNvSpPr/>
          <p:nvPr userDrawn="1"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031996063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7F6C9840-C067-8F4A-88C4-756A93FE098F}" type="slidenum">
              <a:rPr lang="de-DE"/>
              <a:t>‹Nr.›</a:t>
            </a:fld>
            <a:endParaRPr lang="de-DE"/>
          </a:p>
        </p:txBody>
      </p:sp>
      <p:sp>
        <p:nvSpPr>
          <p:cNvPr id="1026059831" name="Footer Placeholder 8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Footer</a:t>
            </a:r>
            <a:endParaRPr lang="en-US"/>
          </a:p>
        </p:txBody>
      </p:sp>
      <p:pic>
        <p:nvPicPr>
          <p:cNvPr id="1650459785" name="Graphic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613249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18799" y="1222513"/>
            <a:ext cx="5194984" cy="5030239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91215147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1590646160" name="Rechteck 30"/>
          <p:cNvSpPr/>
          <p:nvPr userDrawn="1"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52972794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7F6C9840-C067-8F4A-88C4-756A93FE098F}" type="slidenum">
              <a:rPr lang="de-DE"/>
              <a:t>‹Nr.›</a:t>
            </a:fld>
            <a:endParaRPr lang="de-DE"/>
          </a:p>
        </p:txBody>
      </p:sp>
      <p:sp>
        <p:nvSpPr>
          <p:cNvPr id="2013093452" name="Footer Placeholder 8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Footer</a:t>
            </a:r>
            <a:endParaRPr lang="en-US"/>
          </a:p>
        </p:txBody>
      </p:sp>
      <p:sp>
        <p:nvSpPr>
          <p:cNvPr id="1358953046" name="Content Placeholder 7"/>
          <p:cNvSpPr>
            <a:spLocks noGrp="1"/>
          </p:cNvSpPr>
          <p:nvPr>
            <p:ph sz="quarter" idx="16"/>
          </p:nvPr>
        </p:nvSpPr>
        <p:spPr bwMode="auto">
          <a:xfrm>
            <a:off x="6278216" y="1222512"/>
            <a:ext cx="5194984" cy="5030239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pic>
        <p:nvPicPr>
          <p:cNvPr id="2121138408" name="Graphic 2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361720" name="Rechteck 30"/>
          <p:cNvSpPr/>
          <p:nvPr userDrawn="1"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026060613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  <a:noFill/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7F6C9840-C067-8F4A-88C4-756A93FE098F}" type="slidenum">
              <a:rPr lang="de-DE"/>
              <a:t>‹Nr.›</a:t>
            </a:fld>
            <a:endParaRPr lang="de-DE"/>
          </a:p>
        </p:txBody>
      </p:sp>
      <p:sp>
        <p:nvSpPr>
          <p:cNvPr id="1745181622" name="Content Placeholder 2"/>
          <p:cNvSpPr>
            <a:spLocks noGrp="1"/>
          </p:cNvSpPr>
          <p:nvPr>
            <p:ph sz="quarter" idx="14"/>
          </p:nvPr>
        </p:nvSpPr>
        <p:spPr bwMode="auto">
          <a:xfrm>
            <a:off x="718799" y="365126"/>
            <a:ext cx="10754400" cy="588762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1246875608" name="Footer Placeholder 4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Footer</a:t>
            </a:r>
            <a:endParaRPr lang="en-US"/>
          </a:p>
        </p:txBody>
      </p:sp>
      <p:pic>
        <p:nvPicPr>
          <p:cNvPr id="776722015" name="Graphic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643724" name="Picture Placeholder 8"/>
          <p:cNvSpPr>
            <a:spLocks noGrp="1"/>
          </p:cNvSpPr>
          <p:nvPr>
            <p:ph type="pic" sz="quarter" idx="15"/>
          </p:nvPr>
        </p:nvSpPr>
        <p:spPr bwMode="auto">
          <a:xfrm>
            <a:off x="0" y="0"/>
            <a:ext cx="12192000" cy="6535081"/>
          </a:xfrm>
        </p:spPr>
        <p:txBody>
          <a:bodyPr/>
          <a:lstStyle/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347072308" name="Rechteck 30"/>
          <p:cNvSpPr/>
          <p:nvPr userDrawn="1"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352761707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  <a:noFill/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7F6C9840-C067-8F4A-88C4-756A93FE098F}" type="slidenum">
              <a:rPr lang="de-DE"/>
              <a:t>‹Nr.›</a:t>
            </a:fld>
            <a:endParaRPr lang="de-DE"/>
          </a:p>
        </p:txBody>
      </p:sp>
      <p:sp>
        <p:nvSpPr>
          <p:cNvPr id="147792523" name="Footer Placeholder 4"/>
          <p:cNvSpPr>
            <a:spLocks noGrp="1"/>
          </p:cNvSpPr>
          <p:nvPr>
            <p:ph type="ftr" sz="quarter" idx="16"/>
          </p:nvPr>
        </p:nvSpPr>
        <p:spPr bwMode="auto">
          <a:xfrm>
            <a:off x="1888749" y="6541200"/>
            <a:ext cx="8890763" cy="316800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Footer</a:t>
            </a:r>
            <a:endParaRPr lang="en-US"/>
          </a:p>
        </p:txBody>
      </p:sp>
      <p:pic>
        <p:nvPicPr>
          <p:cNvPr id="1801582251" name="Graphic 2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Kontakt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59637" name="Rechteck 6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606111511" name="Rechteck 28"/>
          <p:cNvSpPr/>
          <p:nvPr userDrawn="1"/>
        </p:nvSpPr>
        <p:spPr bwMode="auto">
          <a:xfrm>
            <a:off x="719999" y="0"/>
            <a:ext cx="3220630" cy="145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754118119" name="Rechteck 96"/>
          <p:cNvSpPr/>
          <p:nvPr userDrawn="1"/>
        </p:nvSpPr>
        <p:spPr bwMode="auto">
          <a:xfrm>
            <a:off x="0" y="5802086"/>
            <a:ext cx="12192000" cy="1055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756125286" name="Content Placeholder 2"/>
          <p:cNvSpPr>
            <a:spLocks noGrp="1"/>
          </p:cNvSpPr>
          <p:nvPr>
            <p:ph sz="quarter" idx="15"/>
          </p:nvPr>
        </p:nvSpPr>
        <p:spPr bwMode="auto">
          <a:xfrm>
            <a:off x="4827181" y="365126"/>
            <a:ext cx="6646019" cy="5221187"/>
          </a:xfrm>
        </p:spPr>
        <p:txBody>
          <a:bodyPr anchor="b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grpSp>
        <p:nvGrpSpPr>
          <p:cNvPr id="2105299460" name="Group 1"/>
          <p:cNvGrpSpPr/>
          <p:nvPr userDrawn="1"/>
        </p:nvGrpSpPr>
        <p:grpSpPr bwMode="auto">
          <a:xfrm>
            <a:off x="740141" y="201770"/>
            <a:ext cx="3128105" cy="1181551"/>
            <a:chOff x="7164388" y="1620974"/>
            <a:chExt cx="1871662" cy="706966"/>
          </a:xfrm>
        </p:grpSpPr>
        <p:sp>
          <p:nvSpPr>
            <p:cNvPr id="3" name="Rectangle 2"/>
            <p:cNvSpPr/>
            <p:nvPr userDrawn="1"/>
          </p:nvSpPr>
          <p:spPr bwMode="auto">
            <a:xfrm>
              <a:off x="7164388" y="1620974"/>
              <a:ext cx="1871662" cy="7069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4" name="Picture 15" descr="Logo SeeMoo_RGB.pdf">
              <a:hlinkClick r:id="rId2"/>
            </p:cNvPr>
            <p:cNvPicPr>
              <a:picLocks noChangeAspect="1"/>
            </p:cNvPicPr>
            <p:nvPr userDrawn="1"/>
          </p:nvPicPr>
          <p:blipFill rotWithShape="1">
            <a:blip r:embed="rId3"/>
            <a:stretch/>
          </p:blipFill>
          <p:spPr bwMode="auto">
            <a:xfrm>
              <a:off x="7321550" y="1763855"/>
              <a:ext cx="1567882" cy="4212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18950825" name="Grafik 5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1002806" y="6028718"/>
            <a:ext cx="1626858" cy="626400"/>
          </a:xfrm>
          <a:prstGeom prst="rect">
            <a:avLst/>
          </a:prstGeom>
        </p:spPr>
      </p:pic>
      <p:sp>
        <p:nvSpPr>
          <p:cNvPr id="1583837100" name="Rechteck 28"/>
          <p:cNvSpPr/>
          <p:nvPr userDrawn="1"/>
        </p:nvSpPr>
        <p:spPr bwMode="auto">
          <a:xfrm>
            <a:off x="717690" y="1649660"/>
            <a:ext cx="3220630" cy="3219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071360479" name="Rechteck 28"/>
          <p:cNvSpPr/>
          <p:nvPr userDrawn="1"/>
        </p:nvSpPr>
        <p:spPr bwMode="auto">
          <a:xfrm>
            <a:off x="717690" y="5060154"/>
            <a:ext cx="3220630" cy="562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72157811" name="Titel 1"/>
          <p:cNvSpPr txBox="1"/>
          <p:nvPr userDrawn="1"/>
        </p:nvSpPr>
        <p:spPr bwMode="auto">
          <a:xfrm>
            <a:off x="717690" y="5049305"/>
            <a:ext cx="3220630" cy="558471"/>
          </a:xfrm>
          <a:prstGeom prst="rect">
            <a:avLst/>
          </a:prstGeom>
        </p:spPr>
        <p:txBody>
          <a:bodyPr vert="horz" lIns="0" tIns="0" rIns="0" bIns="9000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800" b="0" i="0">
                <a:solidFill>
                  <a:schemeClr val="bg1"/>
                </a:solidFill>
                <a:latin typeface="Inter"/>
                <a:ea typeface="Inter"/>
                <a:cs typeface="Arial"/>
              </a:defRPr>
            </a:lvl1pPr>
          </a:lstStyle>
          <a:p>
            <a:pPr algn="ctr">
              <a:lnSpc>
                <a:spcPct val="150000"/>
              </a:lnSpc>
              <a:defRPr/>
            </a:pPr>
            <a:r>
              <a:rPr lang="en-GB" sz="1800" b="1">
                <a:solidFill>
                  <a:schemeClr val="tx1"/>
                </a:solidFill>
              </a:rPr>
              <a:t>https://</a:t>
            </a:r>
            <a:r>
              <a:rPr lang="en-GB" sz="1800" b="1">
                <a:solidFill>
                  <a:schemeClr val="tx1"/>
                </a:solidFill>
              </a:rPr>
              <a:t>www.seemoo.de</a:t>
            </a:r>
            <a:endParaRPr lang="en-GB" sz="1800" b="1">
              <a:solidFill>
                <a:schemeClr val="tx1"/>
              </a:solidFill>
            </a:endParaRPr>
          </a:p>
        </p:txBody>
      </p:sp>
      <p:pic>
        <p:nvPicPr>
          <p:cNvPr id="709186267" name="Picture 17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979340" y="1925754"/>
            <a:ext cx="2667330" cy="26673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media1.sv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theme" Target="../theme/theme2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158171" name="Titelplatzhalter 1"/>
          <p:cNvSpPr>
            <a:spLocks noGrp="1"/>
          </p:cNvSpPr>
          <p:nvPr>
            <p:ph type="title"/>
          </p:nvPr>
        </p:nvSpPr>
        <p:spPr bwMode="auto">
          <a:xfrm>
            <a:off x="720000" y="365125"/>
            <a:ext cx="10753200" cy="6884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1324328501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10779512" y="6541200"/>
            <a:ext cx="693687" cy="317715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noFill/>
                <a:latin typeface="Inter"/>
                <a:ea typeface="Inter"/>
              </a:defRPr>
            </a:lvl1pPr>
          </a:lstStyle>
          <a:p>
            <a:pPr>
              <a:defRPr/>
            </a:pPr>
            <a:fld id="{370A5AA2-CDC5-45B7-A826-E4BC9343C573}" type="slidenum">
              <a:rPr lang="de-DE"/>
              <a:t>‹Nr.›</a:t>
            </a:fld>
            <a:endParaRPr lang="de-DE"/>
          </a:p>
        </p:txBody>
      </p:sp>
      <p:sp>
        <p:nvSpPr>
          <p:cNvPr id="562671020" name="Textplatzhalter 3"/>
          <p:cNvSpPr>
            <a:spLocks noGrp="1"/>
          </p:cNvSpPr>
          <p:nvPr>
            <p:ph type="body" idx="1"/>
          </p:nvPr>
        </p:nvSpPr>
        <p:spPr bwMode="auto">
          <a:xfrm>
            <a:off x="720000" y="1202635"/>
            <a:ext cx="10753200" cy="4974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2041603778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1888749" y="6541200"/>
            <a:ext cx="8890763" cy="316800"/>
          </a:xfrm>
          <a:prstGeom prst="rect">
            <a:avLst/>
          </a:prstGeom>
        </p:spPr>
        <p:txBody>
          <a:bodyPr vert="horz" lIns="360000" tIns="45720" rIns="360000" bIns="45720" rtlCol="0" anchor="ctr"/>
          <a:lstStyle>
            <a:lvl1pPr algn="ctr"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endParaRPr lang="de-DE"/>
          </a:p>
        </p:txBody>
      </p:sp>
      <p:pic>
        <p:nvPicPr>
          <p:cNvPr id="1376784520" name="Graphic 7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721634" y="6571189"/>
            <a:ext cx="1164281" cy="25070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3800" b="0">
          <a:solidFill>
            <a:schemeClr val="tx1"/>
          </a:solidFill>
          <a:latin typeface="Inter"/>
          <a:ea typeface="Inter"/>
          <a:cs typeface="Arial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Arial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844870" name="Titelplatzhalter 1"/>
          <p:cNvSpPr>
            <a:spLocks noGrp="1"/>
          </p:cNvSpPr>
          <p:nvPr>
            <p:ph type="title"/>
          </p:nvPr>
        </p:nvSpPr>
        <p:spPr bwMode="auto">
          <a:xfrm>
            <a:off x="720000" y="365125"/>
            <a:ext cx="10753200" cy="6884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130298937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10779512" y="6541200"/>
            <a:ext cx="693687" cy="317715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noFill/>
                <a:latin typeface="Inter"/>
                <a:ea typeface="Inter"/>
              </a:defRPr>
            </a:lvl1pPr>
          </a:lstStyle>
          <a:p>
            <a:pPr>
              <a:defRPr/>
            </a:pPr>
            <a:fld id="{7F6C9840-C067-8F4A-88C4-756A93FE098F}" type="slidenum">
              <a:rPr lang="de-DE"/>
              <a:t>‹Nr.›</a:t>
            </a:fld>
            <a:endParaRPr lang="de-DE"/>
          </a:p>
        </p:txBody>
      </p:sp>
      <p:sp>
        <p:nvSpPr>
          <p:cNvPr id="1959377815" name="Textplatzhalter 3"/>
          <p:cNvSpPr>
            <a:spLocks noGrp="1"/>
          </p:cNvSpPr>
          <p:nvPr>
            <p:ph type="body" idx="1"/>
          </p:nvPr>
        </p:nvSpPr>
        <p:spPr bwMode="auto">
          <a:xfrm>
            <a:off x="720000" y="1202635"/>
            <a:ext cx="10753200" cy="4974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292626731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1888749" y="6541200"/>
            <a:ext cx="8890763" cy="316800"/>
          </a:xfrm>
          <a:prstGeom prst="rect">
            <a:avLst/>
          </a:prstGeom>
        </p:spPr>
        <p:txBody>
          <a:bodyPr vert="horz" lIns="360000" tIns="45720" rIns="360000" bIns="45720" rtlCol="0" anchor="ctr"/>
          <a:lstStyle>
            <a:lvl1pPr algn="ctr"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r>
              <a:rPr lang="en-US"/>
              <a:t>Footer</a:t>
            </a:r>
            <a:endParaRPr lang="en-US"/>
          </a:p>
        </p:txBody>
      </p:sp>
      <p:pic>
        <p:nvPicPr>
          <p:cNvPr id="1803962980" name="Graphic 7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721634" y="6571189"/>
            <a:ext cx="1164281" cy="25070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hf dt="0" ftr="1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3800" b="0">
          <a:solidFill>
            <a:schemeClr val="tx1"/>
          </a:solidFill>
          <a:latin typeface="Inter"/>
          <a:ea typeface="Inter"/>
          <a:cs typeface="Arial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Arial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039484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AU"/>
              <a:t>Reversing the Oura Ring App</a:t>
            </a:r>
            <a:endParaRPr lang="de-DE"/>
          </a:p>
        </p:txBody>
      </p:sp>
      <p:sp>
        <p:nvSpPr>
          <p:cNvPr id="1123582173" name="Untertitel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AU"/>
              <a:t>Simon Pickert</a:t>
            </a:r>
            <a:endParaRPr/>
          </a:p>
          <a:p>
            <a:pPr>
              <a:defRPr/>
            </a:pPr>
            <a:r>
              <a:rPr lang="en-AU"/>
              <a:t>16.11.2025</a:t>
            </a: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04510" name="Inhaltsplatzhalter 1"/>
          <p:cNvSpPr>
            <a:spLocks noGrp="1"/>
          </p:cNvSpPr>
          <p:nvPr>
            <p:ph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en-AU"/>
              <a:t>Goal</a:t>
            </a:r>
            <a:endParaRPr/>
          </a:p>
          <a:p>
            <a:pPr lvl="1">
              <a:defRPr/>
            </a:pPr>
            <a:r>
              <a:rPr lang="en-AU"/>
              <a:t>Interoperability</a:t>
            </a:r>
            <a:r>
              <a:rPr lang="en-US"/>
              <a:t>: Independent App to communicate with the Ring</a:t>
            </a:r>
            <a:endParaRPr lang="en-AU"/>
          </a:p>
          <a:p>
            <a:pPr>
              <a:defRPr/>
            </a:pPr>
            <a:endParaRPr lang="en-AU"/>
          </a:p>
          <a:p>
            <a:pPr>
              <a:defRPr/>
            </a:pPr>
            <a:r>
              <a:rPr lang="en-AU"/>
              <a:t>Planned Steps</a:t>
            </a:r>
            <a:endParaRPr lang="de-DE"/>
          </a:p>
          <a:p>
            <a:pPr lvl="1">
              <a:defRPr/>
            </a:pPr>
            <a:r>
              <a:rPr lang="en-US"/>
              <a:t>1. Find hooks to sniff on Bluetooth (BLE) communication and find commands to read data from the device e.g. heartbeat</a:t>
            </a:r>
            <a:endParaRPr/>
          </a:p>
          <a:p>
            <a:pPr lvl="1">
              <a:defRPr/>
            </a:pPr>
            <a:r>
              <a:rPr lang="en-US"/>
              <a:t>2. Decode further commands to read more data like sleep tracking metrics</a:t>
            </a:r>
            <a:endParaRPr/>
          </a:p>
          <a:p>
            <a:pPr lvl="1">
              <a:defRPr/>
            </a:pPr>
            <a:r>
              <a:rPr lang="en-US"/>
              <a:t>3. Try to run independent app that communicates with the ring i.e. handshakes</a:t>
            </a:r>
            <a:endParaRPr/>
          </a:p>
          <a:p>
            <a:pPr lvl="2">
              <a:defRPr/>
            </a:pPr>
            <a:r>
              <a:rPr lang="en-US"/>
              <a:t> bypass app level BLE security if existent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Basic Setup:</a:t>
            </a:r>
            <a:endParaRPr/>
          </a:p>
          <a:p>
            <a:pPr lvl="1">
              <a:defRPr/>
            </a:pPr>
            <a:r>
              <a:rPr lang="en-US"/>
              <a:t>Rooted Android phone: </a:t>
            </a:r>
            <a:r>
              <a:rPr lang="en-US"/>
              <a:t>Xiomi</a:t>
            </a:r>
            <a:r>
              <a:rPr lang="en-US"/>
              <a:t> Poco 3 via </a:t>
            </a:r>
            <a:r>
              <a:rPr lang="en-US"/>
              <a:t>miflash</a:t>
            </a:r>
            <a:r>
              <a:rPr lang="en-US"/>
              <a:t> unlock</a:t>
            </a:r>
            <a:endParaRPr/>
          </a:p>
          <a:p>
            <a:pPr lvl="1">
              <a:defRPr/>
            </a:pPr>
            <a:r>
              <a:rPr lang="en-US"/>
              <a:t>Frida Gadget on the same phone</a:t>
            </a:r>
            <a:endParaRPr/>
          </a:p>
        </p:txBody>
      </p:sp>
      <p:sp>
        <p:nvSpPr>
          <p:cNvPr id="1742401708" name="Titel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AU"/>
              <a:t>Reversing the Oura Ring App</a:t>
            </a: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413512" name="Titel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Frida Hook the Heartbeat</a:t>
            </a:r>
            <a:endParaRPr lang="de-DE"/>
          </a:p>
        </p:txBody>
      </p:sp>
      <p:pic>
        <p:nvPicPr>
          <p:cNvPr id="1936941025" name="Grafik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45386" y="1113649"/>
            <a:ext cx="3328427" cy="5013140"/>
          </a:xfrm>
          <a:prstGeom prst="rect">
            <a:avLst/>
          </a:prstGeom>
        </p:spPr>
      </p:pic>
      <p:sp>
        <p:nvSpPr>
          <p:cNvPr id="2000521029" name="Inhaltsplatzhalter 11"/>
          <p:cNvSpPr>
            <a:spLocks noGrp="1"/>
          </p:cNvSpPr>
          <p:nvPr>
            <p:ph sz="quarter" idx="14"/>
          </p:nvPr>
        </p:nvSpPr>
        <p:spPr bwMode="auto">
          <a:xfrm>
            <a:off x="718799" y="1222514"/>
            <a:ext cx="7201708" cy="4950760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z="1800"/>
              <a:t>Click on heart icon on phone starts “live heartbeat” mode</a:t>
            </a:r>
            <a:endParaRPr/>
          </a:p>
          <a:p>
            <a:pPr lvl="1">
              <a:defRPr/>
            </a:pPr>
            <a:r>
              <a:rPr lang="en-US" sz="1800"/>
              <a:t>We see BLE write command in trace followed by BLE notifications</a:t>
            </a:r>
            <a:endParaRPr/>
          </a:p>
          <a:p>
            <a:pPr marL="0" indent="0">
              <a:buNone/>
              <a:defRPr/>
            </a:pPr>
            <a:endParaRPr lang="en-US" sz="1800" b="1"/>
          </a:p>
          <a:p>
            <a:pPr marL="0" indent="0">
              <a:buNone/>
              <a:defRPr/>
            </a:pPr>
            <a:r>
              <a:rPr lang="en-US" sz="1800" b="1"/>
              <a:t>How we got there?</a:t>
            </a:r>
            <a:endParaRPr/>
          </a:p>
          <a:p>
            <a:pPr>
              <a:defRPr/>
            </a:pPr>
            <a:r>
              <a:rPr lang="en-US" sz="1800"/>
              <a:t>Decompiled Java app showed Oura app partially uses third-party </a:t>
            </a:r>
            <a:r>
              <a:rPr lang="en-US" sz="1800"/>
              <a:t>SweetBlue</a:t>
            </a:r>
            <a:r>
              <a:rPr lang="en-US" sz="1800"/>
              <a:t> BLE library instead of standard Android Bluetooth APIs</a:t>
            </a:r>
            <a:endParaRPr/>
          </a:p>
          <a:p>
            <a:pPr>
              <a:defRPr/>
            </a:pPr>
            <a:r>
              <a:rPr lang="en-US" sz="1800"/>
              <a:t>To capture heartbeat, the solution is to overwrite low level Bluetooth notifications</a:t>
            </a:r>
            <a:endParaRPr/>
          </a:p>
          <a:p>
            <a:pPr lvl="1">
              <a:defRPr/>
            </a:pPr>
            <a:r>
              <a:rPr lang="en-US" sz="1800"/>
              <a:t>Found handler in </a:t>
            </a:r>
            <a:r>
              <a:rPr lang="en-US" sz="1800"/>
              <a:t>SweetBlue</a:t>
            </a:r>
            <a:r>
              <a:rPr lang="en-US" sz="1800"/>
              <a:t> classes to hook characteristic notification </a:t>
            </a:r>
            <a:endParaRPr/>
          </a:p>
          <a:p>
            <a:pPr lvl="1">
              <a:defRPr/>
            </a:pPr>
            <a:r>
              <a:rPr lang="de-DE" sz="1800"/>
              <a:t>filter</a:t>
            </a:r>
            <a:r>
              <a:rPr lang="de-DE" sz="1800"/>
              <a:t> on </a:t>
            </a:r>
            <a:r>
              <a:rPr lang="en-US" sz="1800"/>
              <a:t>UUID for the heartbeat characteristic</a:t>
            </a:r>
            <a:endParaRPr/>
          </a:p>
          <a:p>
            <a:pPr>
              <a:defRPr/>
            </a:pPr>
            <a:r>
              <a:rPr lang="en-US" sz="1800"/>
              <a:t>We use a Frida gadget to overwrite handler and capture heartbeat</a:t>
            </a:r>
            <a:endParaRPr/>
          </a:p>
          <a:p>
            <a:pPr marL="457200" lvl="1" indent="0">
              <a:buNone/>
              <a:defRPr/>
            </a:pPr>
            <a:r>
              <a:rPr lang="en-US" sz="1200">
                <a:latin typeface="Courier New"/>
                <a:cs typeface="Courier New"/>
              </a:rPr>
              <a:t>frida</a:t>
            </a:r>
            <a:r>
              <a:rPr lang="en-US" sz="1200">
                <a:latin typeface="Courier New"/>
                <a:cs typeface="Courier New"/>
              </a:rPr>
              <a:t> -U Gadget –l simple-heartbeat-monitor.js</a:t>
            </a:r>
            <a:endParaRPr/>
          </a:p>
          <a:p>
            <a:pPr>
              <a:defRPr/>
            </a:pPr>
            <a:r>
              <a:rPr lang="en-US" sz="1800"/>
              <a:t>Payload carries IBI in Byte 8 and 9</a:t>
            </a:r>
            <a:endParaRPr/>
          </a:p>
          <a:p>
            <a:pPr lvl="1">
              <a:defRPr/>
            </a:pPr>
            <a:r>
              <a:rPr lang="en-US" sz="1800"/>
              <a:t>Contains IBI = Inter-Beat Interval</a:t>
            </a:r>
            <a:endParaRPr/>
          </a:p>
          <a:p>
            <a:pPr lvl="1">
              <a:defRPr/>
            </a:pPr>
            <a:r>
              <a:rPr lang="en-US" sz="1800"/>
              <a:t>BPM = 60000 / IBI</a:t>
            </a:r>
            <a:endParaRPr/>
          </a:p>
          <a:p>
            <a:pPr>
              <a:defRPr/>
            </a:pPr>
            <a:r>
              <a:rPr lang="en-US" sz="1800"/>
              <a:t>Outlook / next steps: </a:t>
            </a:r>
            <a:endParaRPr/>
          </a:p>
          <a:p>
            <a:pPr lvl="1">
              <a:defRPr/>
            </a:pPr>
            <a:r>
              <a:rPr lang="en-US" sz="1800"/>
              <a:t>Understand bonding of the ring (authentication) for independent app use</a:t>
            </a:r>
            <a:endParaRPr/>
          </a:p>
          <a:p>
            <a:pPr lvl="1">
              <a:defRPr/>
            </a:pPr>
            <a:r>
              <a:rPr lang="en-US" sz="1800"/>
              <a:t>Understand full Oura protocol details for commands and notifications</a:t>
            </a:r>
            <a:endParaRPr/>
          </a:p>
          <a:p>
            <a:pPr lvl="2">
              <a:defRPr/>
            </a:pPr>
            <a:r>
              <a:rPr lang="en-US" sz="1800"/>
              <a:t>Read arbitrary data e.g. sleep, physician activity etc.</a:t>
            </a:r>
            <a:endParaRPr/>
          </a:p>
          <a:p>
            <a:pPr lvl="1">
              <a:defRPr/>
            </a:pPr>
            <a:r>
              <a:rPr lang="en-US" sz="1800"/>
              <a:t>Own app to pair the ring and to read data</a:t>
            </a:r>
            <a:endParaRPr/>
          </a:p>
          <a:p>
            <a:pPr lvl="1">
              <a:defRPr/>
            </a:pPr>
            <a:endParaRPr lang="en-US" sz="1800"/>
          </a:p>
          <a:p>
            <a:pPr marL="0" indent="0">
              <a:buNone/>
              <a:defRPr/>
            </a:pPr>
            <a:endParaRPr lang="de-DE" sz="1050">
              <a:latin typeface="Courier New"/>
              <a:cs typeface="Courier New"/>
            </a:endParaRPr>
          </a:p>
        </p:txBody>
      </p:sp>
      <p:pic>
        <p:nvPicPr>
          <p:cNvPr id="1589775346" name="Grafik 1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245385" y="592824"/>
            <a:ext cx="1386361" cy="460723"/>
          </a:xfrm>
          <a:prstGeom prst="rect">
            <a:avLst/>
          </a:prstGeom>
        </p:spPr>
      </p:pic>
      <p:sp>
        <p:nvSpPr>
          <p:cNvPr id="1179612744" name="Pfeil: nach rechts 1"/>
          <p:cNvSpPr/>
          <p:nvPr/>
        </p:nvSpPr>
        <p:spPr bwMode="auto">
          <a:xfrm>
            <a:off x="7104845" y="1259610"/>
            <a:ext cx="562378" cy="3048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2100">
              <a:latin typeface="Inter"/>
              <a:ea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907583" name="Bildplatzhalter 4"/>
          <p:cNvSpPr>
            <a:spLocks noGrp="1"/>
          </p:cNvSpPr>
          <p:nvPr>
            <p:ph type="pic" sz="quarter" idx="15"/>
          </p:nvPr>
        </p:nvSpPr>
        <p:spPr bwMode="auto">
          <a:xfrm>
            <a:off x="-196126" y="-220584"/>
            <a:ext cx="13093846" cy="7018483"/>
          </a:xfrm>
        </p:spPr>
        <p:txBody>
          <a:bodyPr/>
          <a:lstStyle/>
          <a:p>
            <a:pPr>
              <a:defRPr/>
            </a:pPr>
            <a:endParaRPr lang="de-DE"/>
          </a:p>
        </p:txBody>
      </p:sp>
      <p:pic>
        <p:nvPicPr>
          <p:cNvPr id="2035535350" name="Grafik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58578" y="575391"/>
            <a:ext cx="7767519" cy="5788919"/>
          </a:xfrm>
          <a:prstGeom prst="rect">
            <a:avLst/>
          </a:prstGeom>
        </p:spPr>
      </p:pic>
      <p:sp>
        <p:nvSpPr>
          <p:cNvPr id="1306403831" name="Textfeld 1"/>
          <p:cNvSpPr txBox="1"/>
          <p:nvPr/>
        </p:nvSpPr>
        <p:spPr bwMode="auto">
          <a:xfrm>
            <a:off x="214648" y="-12879"/>
            <a:ext cx="11170276" cy="874255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>
              <a:defRPr/>
            </a:pPr>
            <a:r>
              <a:rPr lang="en-US" sz="2100">
                <a:latin typeface="Inter"/>
                <a:ea typeface="Inter"/>
              </a:rPr>
              <a:t>Oura App Heartbeat Frida Hook </a:t>
            </a:r>
            <a:r>
              <a:rPr lang="en-US" sz="2400">
                <a:latin typeface="Courier New"/>
                <a:cs typeface="Courier New"/>
              </a:rPr>
              <a:t>simple-heartbeat-monitor.js</a:t>
            </a:r>
            <a:endParaRPr/>
          </a:p>
          <a:p>
            <a:pPr algn="l">
              <a:defRPr/>
            </a:pPr>
            <a:endParaRPr lang="de-DE" sz="2100">
              <a:latin typeface="Inter"/>
              <a:ea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638038" name="Titel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0" tIns="0" rIns="0" bIns="90000" numCol="1" spcCol="0" rtlCol="0" fromWordArt="0" anchor="b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AU"/>
              <a:t>Reversing</a:t>
            </a:r>
            <a:r>
              <a:rPr lang="de-DE"/>
              <a:t> Engineering</a:t>
            </a:r>
            <a:r>
              <a:rPr lang="en-AU"/>
              <a:t> the Oura Ring App</a:t>
            </a:r>
            <a:br>
              <a:rPr lang="en-AU"/>
            </a:br>
            <a:r>
              <a:rPr lang="de-DE"/>
              <a:t>part 2</a:t>
            </a:r>
            <a:endParaRPr lang="de-DE"/>
          </a:p>
        </p:txBody>
      </p:sp>
      <p:sp>
        <p:nvSpPr>
          <p:cNvPr id="68189373" name="Untertitel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AU"/>
              <a:t>Simon Pickert</a:t>
            </a:r>
            <a:endParaRPr/>
          </a:p>
          <a:p>
            <a:pPr>
              <a:defRPr/>
            </a:pPr>
            <a:r>
              <a:rPr lang="en-AU"/>
              <a:t>1</a:t>
            </a:r>
            <a:r>
              <a:rPr lang="de-DE"/>
              <a:t>9</a:t>
            </a:r>
            <a:r>
              <a:rPr lang="en-AU"/>
              <a:t>.11.2025</a:t>
            </a: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674275" name=""/>
          <p:cNvSpPr/>
          <p:nvPr/>
        </p:nvSpPr>
        <p:spPr bwMode="auto">
          <a:xfrm flipH="0" flipV="0">
            <a:off x="667725" y="1439620"/>
            <a:ext cx="10659026" cy="4158847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defRPr/>
            </a:pPr>
            <a:r>
              <a:rPr sz="22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What we learned so far</a:t>
            </a:r>
            <a:r>
              <a:rPr lang="de-DE" sz="2200" b="1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:</a:t>
            </a:r>
            <a:endParaRPr lang="de-DE" sz="2200" b="0" i="0" u="none" strike="noStrike" cap="none" spc="0">
              <a:solidFill>
                <a:schemeClr val="tx1"/>
              </a:solidFill>
              <a:latin typeface="Inter"/>
              <a:ea typeface="Inter"/>
              <a:cs typeface="Inter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how we can frida hook the oura app with a gadget</a:t>
            </a:r>
            <a:endParaRPr lang="de-DE" sz="2200" b="0" i="0" u="none" strike="noStrike" cap="none" spc="0">
              <a:solidFill>
                <a:schemeClr val="tx1"/>
              </a:solidFill>
              <a:latin typeface="Inter"/>
              <a:cs typeface="Inter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how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 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to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 listen 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to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 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the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 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heartbeat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 notifications in 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Oura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 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app 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​</a:t>
            </a:r>
            <a:endParaRPr lang="de-DE" sz="2200" b="0" i="0" u="none" strike="noStrike" cap="none" spc="0">
              <a:solidFill>
                <a:schemeClr val="tx1"/>
              </a:solidFill>
              <a:latin typeface="Inter"/>
              <a:ea typeface="Inter"/>
              <a:cs typeface="Inter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endParaRPr lang="de-DE" sz="2200" b="0" i="0" u="none" strike="noStrike" cap="none" spc="0">
              <a:solidFill>
                <a:schemeClr val="tx1"/>
              </a:solidFill>
              <a:latin typeface="Inter"/>
              <a:cs typeface="Inter"/>
            </a:endParaRPr>
          </a:p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Main Questions:</a:t>
            </a:r>
            <a:r>
              <a:rPr sz="2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​</a:t>
            </a:r>
            <a:endParaRPr/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How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to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communicate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with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the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ring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without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the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Oura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app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?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​</a:t>
            </a:r>
            <a:endParaRPr lang="de-DE" sz="2200" b="0" i="0" u="none" strike="noStrike" cap="none" spc="0">
              <a:solidFill/>
              <a:latin typeface="undefined"/>
              <a:cs typeface="undefined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endParaRPr lang="de-DE" sz="2200" b="0" i="0" u="none" strike="noStrike" cap="none" spc="0">
              <a:solidFill/>
              <a:latin typeface="undefined"/>
              <a:cs typeface="undefined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Read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data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e.g.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sleep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metrics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?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What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about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all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other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data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?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​</a:t>
            </a:r>
            <a:endParaRPr lang="de-DE" sz="2200" b="0" i="0" u="none" strike="noStrike" cap="none" spc="0">
              <a:solidFill/>
              <a:latin typeface="undefined"/>
              <a:ea typeface="undefined"/>
              <a:cs typeface="undefined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endParaRPr lang="de-DE" sz="2200" b="0" i="0" u="none" strike="noStrike" cap="none" spc="0">
              <a:solidFill/>
              <a:latin typeface="undefined"/>
              <a:cs typeface="undefined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How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to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send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commands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to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the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ring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?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Which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commands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exist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?</a:t>
            </a:r>
            <a:endParaRPr/>
          </a:p>
        </p:txBody>
      </p:sp>
      <p:sp>
        <p:nvSpPr>
          <p:cNvPr id="5152897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/>
              <a:t>Recap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1795139" name=""/>
          <p:cNvPicPr>
            <a:picLocks noChangeAspect="1"/>
          </p:cNvPicPr>
          <p:nvPr>
            <p:ph sz="quarter" idx="14"/>
          </p:nvPr>
        </p:nvPicPr>
        <p:blipFill rotWithShape="1">
          <a:blip r:embed="rId3"/>
          <a:stretch/>
        </p:blipFill>
        <p:spPr bwMode="auto">
          <a:xfrm rot="0" flipH="0" flipV="0">
            <a:off x="1624824" y="279786"/>
            <a:ext cx="8625412" cy="60448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1435638" name=""/>
          <p:cNvPicPr>
            <a:picLocks noChangeAspect="1"/>
          </p:cNvPicPr>
          <p:nvPr>
            <p:ph sz="quarter" idx="14"/>
          </p:nvPr>
        </p:nvPicPr>
        <p:blipFill rotWithShape="1">
          <a:blip r:embed="rId3"/>
          <a:stretch/>
        </p:blipFill>
        <p:spPr bwMode="auto">
          <a:xfrm rot="0" flipH="0" flipV="0">
            <a:off x="207973" y="410133"/>
            <a:ext cx="11776051" cy="5473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7368821" name=""/>
          <p:cNvPicPr>
            <a:picLocks noChangeAspect="1"/>
          </p:cNvPicPr>
          <p:nvPr>
            <p:ph sz="quarter" idx="14"/>
          </p:nvPr>
        </p:nvPicPr>
        <p:blipFill rotWithShape="1">
          <a:blip r:embed="rId3"/>
          <a:stretch/>
        </p:blipFill>
        <p:spPr bwMode="auto">
          <a:xfrm rot="0" flipH="0" flipV="0">
            <a:off x="632492" y="157293"/>
            <a:ext cx="10565727" cy="62240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4752513" name=""/>
          <p:cNvPicPr>
            <a:picLocks noChangeAspect="1"/>
          </p:cNvPicPr>
          <p:nvPr>
            <p:ph sz="quarter" idx="14"/>
          </p:nvPr>
        </p:nvPicPr>
        <p:blipFill rotWithShape="1">
          <a:blip r:embed="rId3"/>
          <a:stretch/>
        </p:blipFill>
        <p:spPr bwMode="auto">
          <a:xfrm rot="0" flipH="0" flipV="0">
            <a:off x="358049" y="499786"/>
            <a:ext cx="10598374" cy="5543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871145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18798" y="1222512"/>
            <a:ext cx="10753200" cy="5030238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>
              <a:defRPr/>
            </a:pPr>
            <a:endParaRPr/>
          </a:p>
        </p:txBody>
      </p:sp>
      <p:sp>
        <p:nvSpPr>
          <p:cNvPr id="130024498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pic>
        <p:nvPicPr>
          <p:cNvPr id="176943920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20000" y="37967"/>
            <a:ext cx="10428149" cy="64967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51606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74515" y="-133349"/>
            <a:ext cx="10549168" cy="6686550"/>
          </a:xfrm>
          <a:prstGeom prst="rect">
            <a:avLst/>
          </a:prstGeom>
        </p:spPr>
      </p:pic>
      <p:sp>
        <p:nvSpPr>
          <p:cNvPr id="1886004639" name=""/>
          <p:cNvSpPr txBox="1"/>
          <p:nvPr/>
        </p:nvSpPr>
        <p:spPr bwMode="auto">
          <a:xfrm rot="0" flipH="0" flipV="0">
            <a:off x="296249" y="523874"/>
            <a:ext cx="121111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DEMO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893996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18798" y="1222512"/>
            <a:ext cx="10753200" cy="5030238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>
              <a:defRPr/>
            </a:pPr>
            <a:r>
              <a:rPr/>
              <a:t>Add more useful sensor event outputs (Readiness Score based on all metrics)</a:t>
            </a:r>
            <a:endParaRPr/>
          </a:p>
          <a:p>
            <a:pPr lvl="1">
              <a:defRPr/>
            </a:pPr>
            <a:r>
              <a:rPr/>
              <a:t>Complicates requires multiple so files</a:t>
            </a:r>
            <a:endParaRPr/>
          </a:p>
          <a:p>
            <a:pPr lvl="1">
              <a:defRPr/>
            </a:pPr>
            <a:endParaRPr/>
          </a:p>
          <a:p>
            <a:pPr lvl="0">
              <a:defRPr/>
            </a:pPr>
            <a:r>
              <a:rPr/>
              <a:t>Make own app work in parallel to real Oura app (Oura app detects changed auth key, bans unsigned apks)</a:t>
            </a:r>
            <a:endParaRPr/>
          </a:p>
          <a:p>
            <a:pPr lvl="1">
              <a:defRPr/>
            </a:pPr>
            <a:r>
              <a:rPr/>
              <a:t>Patch oura apk to bypass restrictions and allow setting auth key</a:t>
            </a:r>
            <a:endParaRPr/>
          </a:p>
          <a:p>
            <a:pPr marL="457200" lvl="1" indent="0">
              <a:buClr>
                <a:srgbClr val="ED6501"/>
              </a:buClr>
              <a:buFont typeface="Wingdings"/>
              <a:buNone/>
              <a:defRPr/>
            </a:pPr>
            <a:endParaRPr/>
          </a:p>
          <a:p>
            <a:pPr>
              <a:defRPr/>
            </a:pPr>
            <a:r>
              <a:rPr/>
              <a:t>Improve pairing/bonding to work on different machines (there are some tricks for that)</a:t>
            </a:r>
            <a:endParaRPr/>
          </a:p>
          <a:p>
            <a:pPr marL="0" indent="0">
              <a:buClr>
                <a:srgbClr val="ED6501"/>
              </a:buClr>
              <a:buFont typeface="Wingdings"/>
              <a:buNone/>
              <a:defRPr/>
            </a:pPr>
            <a:endParaRPr/>
          </a:p>
          <a:p>
            <a:pPr>
              <a:defRPr/>
            </a:pPr>
            <a:r>
              <a:rPr/>
              <a:t>Improve portability, Docker for parsing in QEMU etc.</a:t>
            </a:r>
            <a:endParaRPr/>
          </a:p>
        </p:txBody>
      </p:sp>
      <p:sp>
        <p:nvSpPr>
          <p:cNvPr id="121021081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/>
              <a:t>Challenges / Todos left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mplate_presentation">
  <a:themeElements>
    <a:clrScheme name="Custom 3">
      <a:dk1>
        <a:srgbClr val="000000"/>
      </a:dk1>
      <a:lt1>
        <a:srgbClr val="FFFFFF"/>
      </a:lt1>
      <a:dk2>
        <a:srgbClr val="234E51"/>
      </a:dk2>
      <a:lt2>
        <a:srgbClr val="E7E6E6"/>
      </a:lt2>
      <a:accent1>
        <a:srgbClr val="37A069"/>
      </a:accent1>
      <a:accent2>
        <a:srgbClr val="2F855A"/>
      </a:accent2>
      <a:accent3>
        <a:srgbClr val="234D52"/>
      </a:accent3>
      <a:accent4>
        <a:srgbClr val="495568"/>
      </a:accent4>
      <a:accent5>
        <a:srgbClr val="7B331D"/>
      </a:accent5>
      <a:accent6>
        <a:srgbClr val="F6AC54"/>
      </a:accent6>
      <a:hlink>
        <a:srgbClr val="7B331D"/>
      </a:hlink>
      <a:folHlink>
        <a:srgbClr val="7B341E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/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4_Office">
  <a:themeElements>
    <a:clrScheme name="Custom 3">
      <a:dk1>
        <a:srgbClr val="000000"/>
      </a:dk1>
      <a:lt1>
        <a:srgbClr val="FFFFFF"/>
      </a:lt1>
      <a:dk2>
        <a:srgbClr val="234E51"/>
      </a:dk2>
      <a:lt2>
        <a:srgbClr val="E7E6E6"/>
      </a:lt2>
      <a:accent1>
        <a:srgbClr val="37A069"/>
      </a:accent1>
      <a:accent2>
        <a:srgbClr val="2F855A"/>
      </a:accent2>
      <a:accent3>
        <a:srgbClr val="234D52"/>
      </a:accent3>
      <a:accent4>
        <a:srgbClr val="495568"/>
      </a:accent4>
      <a:accent5>
        <a:srgbClr val="7B331D"/>
      </a:accent5>
      <a:accent6>
        <a:srgbClr val="F6AC54"/>
      </a:accent6>
      <a:hlink>
        <a:srgbClr val="7B331D"/>
      </a:hlink>
      <a:folHlink>
        <a:srgbClr val="7B341E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/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template_presentation">
  <a:themeElements>
    <a:clrScheme name="Custom 3">
      <a:dk1>
        <a:srgbClr val="000000"/>
      </a:dk1>
      <a:lt1>
        <a:srgbClr val="FFFFFF"/>
      </a:lt1>
      <a:dk2>
        <a:srgbClr val="234E51"/>
      </a:dk2>
      <a:lt2>
        <a:srgbClr val="E7E6E6"/>
      </a:lt2>
      <a:accent1>
        <a:srgbClr val="37A069"/>
      </a:accent1>
      <a:accent2>
        <a:srgbClr val="2F855A"/>
      </a:accent2>
      <a:accent3>
        <a:srgbClr val="234D52"/>
      </a:accent3>
      <a:accent4>
        <a:srgbClr val="495568"/>
      </a:accent4>
      <a:accent5>
        <a:srgbClr val="7B331D"/>
      </a:accent5>
      <a:accent6>
        <a:srgbClr val="F6AC54"/>
      </a:accent6>
      <a:hlink>
        <a:srgbClr val="7B331D"/>
      </a:hlink>
      <a:folHlink>
        <a:srgbClr val="7B341E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/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prstGeom prst="rect">
          <a:avLst/>
        </a:prstGeom>
        <a:noFill/>
      </a:spPr>
      <a:bodyPr/>
      <a:lstStyle/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template_presentation</Template>
  <TotalTime>0</TotalTime>
  <Words>0</Words>
  <Application>ONLYOFFICE/9.2.1.43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pickert</dc:creator>
  <cp:lastModifiedBy/>
  <cp:revision>13</cp:revision>
  <dcterms:created xsi:type="dcterms:W3CDTF">2025-11-02T12:27:37Z</dcterms:created>
  <dcterms:modified xsi:type="dcterms:W3CDTF">2026-01-18T15:32:30Z</dcterms:modified>
</cp:coreProperties>
</file>